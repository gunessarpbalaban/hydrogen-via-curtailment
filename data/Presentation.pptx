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5" r:id="rId3"/>
    <p:sldId id="257" r:id="rId4"/>
    <p:sldId id="258" r:id="rId5"/>
    <p:sldId id="259" r:id="rId6"/>
    <p:sldId id="260" r:id="rId7"/>
    <p:sldId id="268" r:id="rId8"/>
    <p:sldId id="269" r:id="rId9"/>
    <p:sldId id="270" r:id="rId10"/>
    <p:sldId id="261" r:id="rId11"/>
    <p:sldId id="262" r:id="rId12"/>
    <p:sldId id="267" r:id="rId13"/>
    <p:sldId id="263" r:id="rId14"/>
    <p:sldId id="264" r:id="rId15"/>
    <p:sldId id="266" r:id="rId16"/>
    <p:sldId id="272" r:id="rId17"/>
    <p:sldId id="273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8" d="100"/>
          <a:sy n="88" d="100"/>
        </p:scale>
        <p:origin x="49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29ECCA-672D-4008-973A-F5C92C7AD80A}" type="datetimeFigureOut">
              <a:rPr lang="en-GB" smtClean="0"/>
              <a:t>24/08/2026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5DF8A-CAB3-4C9C-A1A6-34936455EA9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542988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29ECCA-672D-4008-973A-F5C92C7AD80A}" type="datetimeFigureOut">
              <a:rPr lang="en-GB" smtClean="0"/>
              <a:t>24/08/2026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5DF8A-CAB3-4C9C-A1A6-34936455EA9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073227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29ECCA-672D-4008-973A-F5C92C7AD80A}" type="datetimeFigureOut">
              <a:rPr lang="en-GB" smtClean="0"/>
              <a:t>24/08/2026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5DF8A-CAB3-4C9C-A1A6-34936455EA9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056004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29ECCA-672D-4008-973A-F5C92C7AD80A}" type="datetimeFigureOut">
              <a:rPr lang="en-GB" smtClean="0"/>
              <a:t>24/08/2026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5DF8A-CAB3-4C9C-A1A6-34936455EA9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7041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29ECCA-672D-4008-973A-F5C92C7AD80A}" type="datetimeFigureOut">
              <a:rPr lang="en-GB" smtClean="0"/>
              <a:t>24/08/2026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5DF8A-CAB3-4C9C-A1A6-34936455EA9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53286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29ECCA-672D-4008-973A-F5C92C7AD80A}" type="datetimeFigureOut">
              <a:rPr lang="en-GB" smtClean="0"/>
              <a:t>24/08/2026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5DF8A-CAB3-4C9C-A1A6-34936455EA9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395765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29ECCA-672D-4008-973A-F5C92C7AD80A}" type="datetimeFigureOut">
              <a:rPr lang="en-GB" smtClean="0"/>
              <a:t>24/08/2026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5DF8A-CAB3-4C9C-A1A6-34936455EA9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164178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29ECCA-672D-4008-973A-F5C92C7AD80A}" type="datetimeFigureOut">
              <a:rPr lang="en-GB" smtClean="0"/>
              <a:t>24/08/2026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5DF8A-CAB3-4C9C-A1A6-34936455EA9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018614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29ECCA-672D-4008-973A-F5C92C7AD80A}" type="datetimeFigureOut">
              <a:rPr lang="en-GB" smtClean="0"/>
              <a:t>24/08/2026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5DF8A-CAB3-4C9C-A1A6-34936455EA9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062219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29ECCA-672D-4008-973A-F5C92C7AD80A}" type="datetimeFigureOut">
              <a:rPr lang="en-GB" smtClean="0"/>
              <a:t>24/08/2026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5DF8A-CAB3-4C9C-A1A6-34936455EA9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289405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29ECCA-672D-4008-973A-F5C92C7AD80A}" type="datetimeFigureOut">
              <a:rPr lang="en-GB" smtClean="0"/>
              <a:t>24/08/2026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5DF8A-CAB3-4C9C-A1A6-34936455EA90}" type="slidenum">
              <a:rPr lang="en-GB" smtClean="0"/>
              <a:t>‹#›</a:t>
            </a:fld>
            <a:endParaRPr lang="en-GB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831915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29ECCA-672D-4008-973A-F5C92C7AD80A}" type="datetimeFigureOut">
              <a:rPr lang="en-GB" smtClean="0"/>
              <a:t>24/08/2026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5DF8A-CAB3-4C9C-A1A6-34936455EA9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4824074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29ECCA-672D-4008-973A-F5C92C7AD80A}" type="datetimeFigureOut">
              <a:rPr lang="en-GB" smtClean="0"/>
              <a:t>24/08/2026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5DF8A-CAB3-4C9C-A1A6-34936455EA90}" type="slidenum">
              <a:rPr lang="en-GB" smtClean="0"/>
              <a:t>‹#›</a:t>
            </a:fld>
            <a:endParaRPr lang="en-GB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706162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29ECCA-672D-4008-973A-F5C92C7AD80A}" type="datetimeFigureOut">
              <a:rPr lang="en-GB" smtClean="0"/>
              <a:t>24/08/2026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5DF8A-CAB3-4C9C-A1A6-34936455EA9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5825679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29ECCA-672D-4008-973A-F5C92C7AD80A}" type="datetimeFigureOut">
              <a:rPr lang="en-GB" smtClean="0"/>
              <a:t>24/08/2026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5DF8A-CAB3-4C9C-A1A6-34936455EA9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816900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29ECCA-672D-4008-973A-F5C92C7AD80A}" type="datetimeFigureOut">
              <a:rPr lang="en-GB" smtClean="0"/>
              <a:t>24/08/2026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5DF8A-CAB3-4C9C-A1A6-34936455EA9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942730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29ECCA-672D-4008-973A-F5C92C7AD80A}" type="datetimeFigureOut">
              <a:rPr lang="en-GB" smtClean="0"/>
              <a:t>24/08/2026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0065DF8A-CAB3-4C9C-A1A6-34936455EA9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750865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49829" y="618309"/>
            <a:ext cx="9144000" cy="3779928"/>
          </a:xfrm>
        </p:spPr>
        <p:txBody>
          <a:bodyPr>
            <a:normAutofit/>
          </a:bodyPr>
          <a:lstStyle/>
          <a:p>
            <a:pPr algn="l"/>
            <a:r>
              <a:rPr lang="en-US" sz="4500" dirty="0" smtClean="0"/>
              <a:t>Evaluation of Green Hydrogen </a:t>
            </a:r>
            <a:br>
              <a:rPr lang="en-US" sz="4500" dirty="0" smtClean="0"/>
            </a:br>
            <a:r>
              <a:rPr lang="en-US" sz="4500" dirty="0" smtClean="0"/>
              <a:t>as a Long Duration Storage </a:t>
            </a:r>
            <a:br>
              <a:rPr lang="en-US" sz="4500" dirty="0" smtClean="0"/>
            </a:br>
            <a:r>
              <a:rPr lang="en-US" sz="4500" dirty="0" smtClean="0"/>
              <a:t>Solution for Future Energy and </a:t>
            </a:r>
            <a:br>
              <a:rPr lang="en-US" sz="4500" dirty="0" smtClean="0"/>
            </a:br>
            <a:r>
              <a:rPr lang="en-US" sz="4500" dirty="0" smtClean="0"/>
              <a:t>Climate Scenarios in the UK</a:t>
            </a:r>
            <a:endParaRPr lang="en-GB" sz="45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49829" y="5143455"/>
            <a:ext cx="9144000" cy="560659"/>
          </a:xfrm>
        </p:spPr>
        <p:txBody>
          <a:bodyPr/>
          <a:lstStyle/>
          <a:p>
            <a:pPr algn="l"/>
            <a:r>
              <a:rPr lang="tr-TR" dirty="0" smtClean="0"/>
              <a:t>Gunes Sarp Balaban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915350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Aim and Objectives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tr-TR" dirty="0" smtClean="0"/>
              <a:t>Aim:</a:t>
            </a:r>
          </a:p>
          <a:p>
            <a:r>
              <a:rPr lang="en-GB" dirty="0" smtClean="0"/>
              <a:t>Evaluating</a:t>
            </a:r>
            <a:r>
              <a:rPr lang="tr-TR" dirty="0" smtClean="0"/>
              <a:t> green hydrogen production as a form of long-term storage of curtailed wind energy across the UK.</a:t>
            </a:r>
          </a:p>
          <a:p>
            <a:pPr marL="0" indent="0">
              <a:buNone/>
            </a:pPr>
            <a:r>
              <a:rPr lang="tr-TR" dirty="0" smtClean="0"/>
              <a:t>Objectives:</a:t>
            </a:r>
          </a:p>
          <a:p>
            <a:r>
              <a:rPr lang="tr-TR" dirty="0" smtClean="0"/>
              <a:t>Understanding wind curtailment and geographical distribution</a:t>
            </a:r>
          </a:p>
          <a:p>
            <a:r>
              <a:rPr lang="tr-TR" dirty="0" smtClean="0"/>
              <a:t>Creating a realistic hydrogen production model</a:t>
            </a:r>
          </a:p>
          <a:p>
            <a:r>
              <a:rPr lang="tr-TR" dirty="0" smtClean="0"/>
              <a:t>Simulating geographical electrolyser sites</a:t>
            </a:r>
          </a:p>
          <a:p>
            <a:r>
              <a:rPr lang="tr-TR" dirty="0" smtClean="0"/>
              <a:t>Assessing the results and determining the feasibility</a:t>
            </a:r>
            <a:endParaRPr lang="en-GB" dirty="0" smtClean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833158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sz="4500" dirty="0" smtClean="0"/>
              <a:t>Significance of the Topic</a:t>
            </a:r>
            <a:endParaRPr lang="en-GB" sz="45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 smtClean="0"/>
              <a:t>Goal of becoming fully renewable by 2050</a:t>
            </a:r>
          </a:p>
          <a:p>
            <a:r>
              <a:rPr lang="tr-TR" dirty="0" smtClean="0"/>
              <a:t>Lack of long-term storage options</a:t>
            </a:r>
          </a:p>
          <a:p>
            <a:r>
              <a:rPr lang="tr-TR" dirty="0" smtClean="0"/>
              <a:t>Sectors that are hard to power by renewable energy</a:t>
            </a:r>
          </a:p>
          <a:p>
            <a:r>
              <a:rPr lang="tr-TR" dirty="0" smtClean="0"/>
              <a:t>Increasing wind curtailment (1.48 to 10.18TWh)</a:t>
            </a:r>
          </a:p>
          <a:p>
            <a:r>
              <a:rPr lang="tr-TR" dirty="0" smtClean="0"/>
              <a:t>Increasing investments for wind generation, less for infrastructure</a:t>
            </a:r>
          </a:p>
          <a:p>
            <a:endParaRPr lang="tr-TR" dirty="0" smtClean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727464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Literature Review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 smtClean="0"/>
              <a:t>Transportation of energy and role of storage in the grid</a:t>
            </a:r>
          </a:p>
          <a:p>
            <a:r>
              <a:rPr lang="tr-TR" dirty="0" smtClean="0"/>
              <a:t>Utilising hydrogen as an energy source (petroleum refining 25%, ammonia 55%, and methanol production 10%)</a:t>
            </a:r>
          </a:p>
          <a:p>
            <a:r>
              <a:rPr lang="tr-TR" dirty="0" smtClean="0"/>
              <a:t>Electrolysis technology (PEM electrolysis)</a:t>
            </a:r>
          </a:p>
          <a:p>
            <a:r>
              <a:rPr lang="tr-TR" dirty="0" smtClean="0"/>
              <a:t>Hydrogen transportation and storage after production (old pipelines, tube trailers, etc.)</a:t>
            </a:r>
            <a:endParaRPr lang="en-GB" dirty="0"/>
          </a:p>
        </p:txBody>
      </p:sp>
      <p:pic>
        <p:nvPicPr>
          <p:cNvPr id="4" name="Picture 3" descr="The Role of Underground Salt Caverns in Renewable Energy Peaking: A Review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50529" y="4180975"/>
            <a:ext cx="4403271" cy="251156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680874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Methodology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 smtClean="0"/>
              <a:t>Official NESO data between 2018 and 2026</a:t>
            </a:r>
          </a:p>
          <a:p>
            <a:r>
              <a:rPr lang="tr-TR" dirty="0" smtClean="0"/>
              <a:t>MATLAB processing and plotting</a:t>
            </a:r>
          </a:p>
          <a:p>
            <a:r>
              <a:rPr lang="tr-TR" dirty="0" smtClean="0"/>
              <a:t>Hydrogen model creation</a:t>
            </a:r>
          </a:p>
          <a:p>
            <a:r>
              <a:rPr lang="tr-TR" dirty="0" smtClean="0"/>
              <a:t>System assumptions and constraints</a:t>
            </a:r>
          </a:p>
          <a:p>
            <a:r>
              <a:rPr lang="tr-TR" dirty="0" smtClean="0"/>
              <a:t>Model simulation</a:t>
            </a:r>
            <a:r>
              <a:rPr lang="en-GB" dirty="0" smtClean="0"/>
              <a:t> and analysis</a:t>
            </a:r>
            <a:endParaRPr lang="tr-TR" dirty="0" smtClean="0"/>
          </a:p>
          <a:p>
            <a:endParaRPr lang="en-GB" dirty="0"/>
          </a:p>
        </p:txBody>
      </p:sp>
      <p:pic>
        <p:nvPicPr>
          <p:cNvPr id="5" name="Picture 4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3851" y="4400420"/>
            <a:ext cx="6731726" cy="222469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6995668" y="1612714"/>
                <a:ext cx="2219261" cy="6905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>
                              <a:effectLst/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sSub>
                            <m:sSubPr>
                              <m:ctrlPr>
                                <a:rPr lang="en-US" i="1"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>
                                  <a:effectLst/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>
                                  <a:effectLst/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b>
                      </m:sSub>
                      <m:r>
                        <a:rPr lang="en-US"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>
                                  <a:effectLst/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>
                                  <a:effectLst/>
                                  <a:latin typeface="Cambria Math" panose="02040503050406030204" pitchFamily="18" charset="0"/>
                                </a:rPr>
                                <m:t>𝑐𝑢𝑟𝑡𝑎𝑖𝑙𝑒𝑑</m:t>
                              </m:r>
                            </m:sub>
                          </m:sSub>
                          <m:r>
                            <a:rPr lang="en-US">
                              <a:effectLst/>
                              <a:latin typeface="Cambria Math" panose="02040503050406030204" pitchFamily="18" charset="0"/>
                            </a:rPr>
                            <m:t>∗</m:t>
                          </m:r>
                          <m:r>
                            <m:rPr>
                              <m:sty m:val="p"/>
                            </m:rPr>
                            <a:rPr lang="en-GB" spc="25">
                              <a:effectLst/>
                              <a:latin typeface="Cambria Math" panose="02040503050406030204" pitchFamily="18" charset="0"/>
                            </a:rPr>
                            <m:t>η</m:t>
                          </m:r>
                        </m:num>
                        <m:den>
                          <m:sSub>
                            <m:sSubPr>
                              <m:ctrlPr>
                                <a:rPr lang="en-US" i="1"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>
                                  <a:effectLst/>
                                  <a:latin typeface="Cambria Math" panose="02040503050406030204" pitchFamily="18" charset="0"/>
                                </a:rPr>
                                <m:t>𝐿𝐻𝑉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>
                                      <a:effectLst/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  <m:sub>
                                  <m:r>
                                    <a:rPr lang="en-US">
                                      <a:effectLst/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sub>
                          </m:sSub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5668" y="1612714"/>
                <a:ext cx="2219261" cy="690510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>
                <a:off x="6076202" y="2870086"/>
                <a:ext cx="3410485" cy="69140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GB" spc="25" smtClean="0">
                          <a:effectLst/>
                          <a:latin typeface="Cambria Math" panose="02040503050406030204" pitchFamily="18" charset="0"/>
                        </a:rPr>
                        <m:t>η</m:t>
                      </m:r>
                      <m:d>
                        <m:dPr>
                          <m:ctrlPr>
                            <a:rPr lang="en-US" i="1" spc="25"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GB" spc="25">
                              <a:effectLst/>
                              <a:latin typeface="Cambria Math" panose="02040503050406030204" pitchFamily="18" charset="0"/>
                            </a:rPr>
                            <m:t>P</m:t>
                          </m:r>
                        </m:e>
                      </m:d>
                      <m:r>
                        <a:rPr lang="en-GB" spc="25"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 spc="25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GB" spc="25">
                              <a:effectLst/>
                              <a:latin typeface="Cambria Math" panose="02040503050406030204" pitchFamily="18" charset="0"/>
                            </a:rPr>
                            <m:t>η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spc="25">
                              <a:effectLst/>
                              <a:latin typeface="Cambria Math" panose="02040503050406030204" pitchFamily="18" charset="0"/>
                            </a:rPr>
                            <m:t>max</m:t>
                          </m:r>
                        </m:sub>
                      </m:sSub>
                      <m:r>
                        <a:rPr lang="en-GB" spc="25">
                          <a:effectLst/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n-GB" spc="25">
                          <a:effectLst/>
                          <a:latin typeface="Cambria Math" panose="02040503050406030204" pitchFamily="18" charset="0"/>
                        </a:rPr>
                        <m:t>k</m:t>
                      </m:r>
                      <m:r>
                        <a:rPr lang="en-GB" spc="25">
                          <a:effectLst/>
                          <a:latin typeface="Cambria Math" panose="02040503050406030204" pitchFamily="18" charset="0"/>
                        </a:rPr>
                        <m:t>∗</m:t>
                      </m:r>
                      <m:sSup>
                        <m:sSupPr>
                          <m:ctrlPr>
                            <a:rPr lang="en-US" i="1" spc="25">
                              <a:effectLst/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pc="25">
                              <a:effectLst/>
                              <a:latin typeface="Cambria Math" panose="02040503050406030204" pitchFamily="18" charset="0"/>
                            </a:rPr>
                            <m:t>(</m:t>
                          </m:r>
                          <m:f>
                            <m:fPr>
                              <m:ctrlPr>
                                <a:rPr lang="en-US" i="1" spc="25"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sty m:val="p"/>
                                </m:rPr>
                                <a:rPr lang="en-GB" spc="25">
                                  <a:effectLst/>
                                  <a:latin typeface="Cambria Math" panose="02040503050406030204" pitchFamily="18" charset="0"/>
                                </a:rPr>
                                <m:t>P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i="1" spc="25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GB" spc="25">
                                      <a:effectLst/>
                                      <a:latin typeface="Cambria Math" panose="02040503050406030204" pitchFamily="18" charset="0"/>
                                    </a:rPr>
                                    <m:t>P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GB" spc="25">
                                      <a:effectLst/>
                                      <a:latin typeface="Cambria Math" panose="02040503050406030204" pitchFamily="18" charset="0"/>
                                    </a:rPr>
                                    <m:t>cap</m:t>
                                  </m:r>
                                </m:sub>
                              </m:sSub>
                            </m:den>
                          </m:f>
                          <m:r>
                            <a:rPr lang="en-GB" spc="25">
                              <a:effectLst/>
                              <a:latin typeface="Cambria Math" panose="02040503050406030204" pitchFamily="18" charset="0"/>
                            </a:rPr>
                            <m:t>−0.7)</m:t>
                          </m:r>
                        </m:e>
                        <m:sup>
                          <m:r>
                            <a:rPr lang="en-GB" spc="25">
                              <a:effectLst/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76202" y="2870086"/>
                <a:ext cx="3410485" cy="691408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903206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Results – Data Analysis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625184"/>
            <a:ext cx="8596668" cy="3880773"/>
          </a:xfrm>
        </p:spPr>
        <p:txBody>
          <a:bodyPr/>
          <a:lstStyle/>
          <a:p>
            <a:r>
              <a:rPr lang="tr-TR" dirty="0" smtClean="0"/>
              <a:t>Demand vs generation analysis</a:t>
            </a:r>
          </a:p>
        </p:txBody>
      </p:sp>
      <p:pic>
        <p:nvPicPr>
          <p:cNvPr id="4" name="Picture 3"/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79" r="8333"/>
          <a:stretch/>
        </p:blipFill>
        <p:spPr bwMode="auto">
          <a:xfrm>
            <a:off x="313508" y="2786742"/>
            <a:ext cx="5529943" cy="363528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5" name="Picture 4"/>
          <p:cNvPicPr/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07" r="7949" b="6657"/>
          <a:stretch/>
        </p:blipFill>
        <p:spPr bwMode="auto">
          <a:xfrm>
            <a:off x="6096000" y="2786742"/>
            <a:ext cx="5947954" cy="363528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4574359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23" r="9118"/>
          <a:stretch/>
        </p:blipFill>
        <p:spPr bwMode="auto">
          <a:xfrm>
            <a:off x="485111" y="2473235"/>
            <a:ext cx="5785060" cy="3973694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Results – Data Analysis</a:t>
            </a:r>
            <a:endParaRPr lang="en-GB" dirty="0"/>
          </a:p>
        </p:txBody>
      </p:sp>
      <p:sp>
        <p:nvSpPr>
          <p:cNvPr id="10" name="Content Placeholder 2"/>
          <p:cNvSpPr>
            <a:spLocks noGrp="1"/>
          </p:cNvSpPr>
          <p:nvPr>
            <p:ph idx="1"/>
          </p:nvPr>
        </p:nvSpPr>
        <p:spPr>
          <a:xfrm>
            <a:off x="677334" y="1763547"/>
            <a:ext cx="8596668" cy="3880773"/>
          </a:xfrm>
        </p:spPr>
        <p:txBody>
          <a:bodyPr/>
          <a:lstStyle/>
          <a:p>
            <a:r>
              <a:rPr lang="tr-TR" dirty="0" smtClean="0"/>
              <a:t>Daily curtailment and percentage relevance analysis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1235914"/>
              </p:ext>
            </p:extLst>
          </p:nvPr>
        </p:nvGraphicFramePr>
        <p:xfrm>
          <a:off x="6789879" y="2347159"/>
          <a:ext cx="4757686" cy="422584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223768"/>
                <a:gridCol w="1028373"/>
                <a:gridCol w="1242596"/>
                <a:gridCol w="1262949"/>
              </a:tblGrid>
              <a:tr h="604821"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</a:rPr>
                        <a:t>Period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Average Wind Percentage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Min Wind Percentage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Max Wind Percentage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</a:tr>
              <a:tr h="304521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GB" sz="1200" spc="25">
                          <a:effectLst/>
                        </a:rPr>
                        <a:t>Apr 2018 – Dec 2018           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GB" sz="1200" spc="25">
                          <a:effectLst/>
                        </a:rPr>
                        <a:t>16.54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GB" sz="1200" spc="25">
                          <a:effectLst/>
                        </a:rPr>
                        <a:t>1.96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200" spc="25">
                          <a:effectLst/>
                        </a:rPr>
                        <a:t>38.28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</a:tr>
              <a:tr h="304521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GB" sz="1200" spc="25">
                          <a:effectLst/>
                        </a:rPr>
                        <a:t>Jan 2019 – Dec 2019           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GB" sz="1200" spc="25">
                          <a:effectLst/>
                        </a:rPr>
                        <a:t>20.1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GB" sz="1200" spc="25">
                          <a:effectLst/>
                        </a:rPr>
                        <a:t>2.94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200" spc="25" dirty="0">
                          <a:effectLst/>
                        </a:rPr>
                        <a:t>42.92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</a:tr>
              <a:tr h="304521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GB" sz="1200" spc="25">
                          <a:effectLst/>
                        </a:rPr>
                        <a:t>Jan 2020 – Dec 2020       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GB" sz="1200" spc="25">
                          <a:effectLst/>
                        </a:rPr>
                        <a:t>24.61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GB" sz="1200" spc="25">
                          <a:effectLst/>
                        </a:rPr>
                        <a:t>2.19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200" spc="25">
                          <a:effectLst/>
                        </a:rPr>
                        <a:t>50.13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</a:tr>
              <a:tr h="304521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GB" sz="1200" spc="25">
                          <a:effectLst/>
                        </a:rPr>
                        <a:t>Jan 2021 – Dec 2021         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GB" sz="1200" spc="25">
                          <a:effectLst/>
                        </a:rPr>
                        <a:t>21.57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GB" sz="1200" spc="25">
                          <a:effectLst/>
                        </a:rPr>
                        <a:t>2.16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200" spc="25">
                          <a:effectLst/>
                        </a:rPr>
                        <a:t>53.53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</a:tr>
              <a:tr h="304521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GB" sz="1200" spc="25">
                          <a:effectLst/>
                        </a:rPr>
                        <a:t>Jan 2022 – Dec 2022         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GB" sz="1200" spc="25">
                          <a:effectLst/>
                        </a:rPr>
                        <a:t>26.48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GB" sz="1200" spc="25">
                          <a:effectLst/>
                        </a:rPr>
                        <a:t>2.06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200" spc="25">
                          <a:effectLst/>
                        </a:rPr>
                        <a:t>58.92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</a:tr>
              <a:tr h="304521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GB" sz="1200" spc="25">
                          <a:effectLst/>
                        </a:rPr>
                        <a:t>Jan 2023 – Dec 2023        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GB" sz="1200" spc="25">
                          <a:effectLst/>
                        </a:rPr>
                        <a:t>28.42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GB" sz="1200" spc="25">
                          <a:effectLst/>
                        </a:rPr>
                        <a:t>2.16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200" spc="25">
                          <a:effectLst/>
                        </a:rPr>
                        <a:t>60.87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</a:tr>
              <a:tr h="304521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GB" sz="1200" spc="25">
                          <a:effectLst/>
                        </a:rPr>
                        <a:t>Jan 2024 – Dec 2024        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GB" sz="1200" spc="25">
                          <a:effectLst/>
                        </a:rPr>
                        <a:t>28.95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GB" sz="1200" spc="25">
                          <a:effectLst/>
                        </a:rPr>
                        <a:t>4.29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200" spc="25">
                          <a:effectLst/>
                        </a:rPr>
                        <a:t>60.8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</a:tr>
              <a:tr h="304521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GB" sz="1200" spc="25">
                          <a:effectLst/>
                        </a:rPr>
                        <a:t>Jan 2025 – Dec 2025         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GB" sz="1200" spc="25">
                          <a:effectLst/>
                        </a:rPr>
                        <a:t>29.34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GB" sz="1200" spc="25">
                          <a:effectLst/>
                        </a:rPr>
                        <a:t>2.16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200" spc="25">
                          <a:effectLst/>
                        </a:rPr>
                        <a:t>63.92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</a:tr>
              <a:tr h="304521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GB" sz="1200" spc="25">
                          <a:effectLst/>
                        </a:rPr>
                        <a:t>Jan 2026 – Apr 2026        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GB" sz="1200" spc="25">
                          <a:effectLst/>
                        </a:rPr>
                        <a:t>35.59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GB" sz="1200" spc="25">
                          <a:effectLst/>
                        </a:rPr>
                        <a:t>9.17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200" spc="25" dirty="0">
                          <a:effectLst/>
                        </a:rPr>
                        <a:t>57.03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944860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79" y="2667020"/>
            <a:ext cx="6069330" cy="3753781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Results – Data Analysis</a:t>
            </a:r>
            <a:endParaRPr lang="en-GB" dirty="0"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677334" y="1697373"/>
            <a:ext cx="8596668" cy="3880773"/>
          </a:xfrm>
        </p:spPr>
        <p:txBody>
          <a:bodyPr/>
          <a:lstStyle/>
          <a:p>
            <a:r>
              <a:rPr lang="tr-TR" dirty="0" smtClean="0"/>
              <a:t>Seasonal curtailment trends</a:t>
            </a:r>
          </a:p>
        </p:txBody>
      </p:sp>
      <p:pic>
        <p:nvPicPr>
          <p:cNvPr id="9" name="Picture 8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1413" y="2667020"/>
            <a:ext cx="6060621" cy="3753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27289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Results – Data Analysis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715420"/>
            <a:ext cx="8596668" cy="3880773"/>
          </a:xfrm>
        </p:spPr>
        <p:txBody>
          <a:bodyPr/>
          <a:lstStyle/>
          <a:p>
            <a:r>
              <a:rPr lang="tr-TR" dirty="0" smtClean="0"/>
              <a:t>Future trend extrapolation</a:t>
            </a:r>
            <a:endParaRPr lang="en-GB" dirty="0" smtClean="0"/>
          </a:p>
        </p:txBody>
      </p:sp>
      <p:pic>
        <p:nvPicPr>
          <p:cNvPr id="4" name="Picture 3"/>
          <p:cNvPicPr/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85" r="1795"/>
          <a:stretch/>
        </p:blipFill>
        <p:spPr bwMode="auto">
          <a:xfrm>
            <a:off x="94704" y="2680621"/>
            <a:ext cx="6175468" cy="356616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5" name="Picture 4"/>
          <p:cNvPicPr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641" r="5513" b="18321"/>
          <a:stretch/>
        </p:blipFill>
        <p:spPr bwMode="auto">
          <a:xfrm>
            <a:off x="6203224" y="2680621"/>
            <a:ext cx="5829300" cy="320865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40610317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Results – Modelling and Simulation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 smtClean="0"/>
              <a:t>Generator-based analysis of curtailment</a:t>
            </a:r>
          </a:p>
          <a:p>
            <a:r>
              <a:rPr lang="tr-TR" dirty="0" smtClean="0"/>
              <a:t>Some generators are overlapping on the</a:t>
            </a:r>
          </a:p>
          <a:p>
            <a:pPr marL="0" indent="0">
              <a:buNone/>
            </a:pPr>
            <a:r>
              <a:rPr lang="tr-TR" dirty="0"/>
              <a:t>m</a:t>
            </a:r>
            <a:r>
              <a:rPr lang="tr-TR" dirty="0" smtClean="0"/>
              <a:t>ap.</a:t>
            </a:r>
          </a:p>
          <a:p>
            <a:r>
              <a:rPr lang="tr-TR" dirty="0" smtClean="0"/>
              <a:t>Highlights transmission </a:t>
            </a:r>
            <a:r>
              <a:rPr lang="en-GB" dirty="0" smtClean="0"/>
              <a:t>bottlenecks</a:t>
            </a:r>
            <a:endParaRPr lang="en-GB" dirty="0"/>
          </a:p>
        </p:txBody>
      </p:sp>
      <p:pic>
        <p:nvPicPr>
          <p:cNvPr id="4" name="Picture 3"/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599"/>
          <a:stretch/>
        </p:blipFill>
        <p:spPr bwMode="auto">
          <a:xfrm>
            <a:off x="6392091" y="1454330"/>
            <a:ext cx="4537166" cy="5169082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40996268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Results – Modelling and Simulation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 smtClean="0"/>
              <a:t>Theoretical modelling</a:t>
            </a:r>
          </a:p>
        </p:txBody>
      </p:sp>
      <p:pic>
        <p:nvPicPr>
          <p:cNvPr id="4" name="Picture 3"/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26" r="8204" b="3165"/>
          <a:stretch/>
        </p:blipFill>
        <p:spPr bwMode="auto">
          <a:xfrm>
            <a:off x="5042989" y="2873829"/>
            <a:ext cx="6930888" cy="3733217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6992945"/>
                  </p:ext>
                </p:extLst>
              </p:nvPr>
            </p:nvGraphicFramePr>
            <p:xfrm>
              <a:off x="218123" y="2873829"/>
              <a:ext cx="4745764" cy="3452495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605497"/>
                    <a:gridCol w="1469230"/>
                    <a:gridCol w="1671037"/>
                  </a:tblGrid>
                  <a:tr h="501853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 spc="25" dirty="0">
                              <a:effectLst/>
                            </a:rPr>
                            <a:t>Year</a:t>
                          </a:r>
                          <a:endParaRPr lang="en-US" sz="12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 spc="25">
                              <a:effectLst/>
                            </a:rPr>
                            <a:t>Hydrogen in Tonnes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 spc="25" dirty="0">
                              <a:effectLst/>
                            </a:rPr>
                            <a:t>Net Chemical Energy (TWh)</a:t>
                          </a:r>
                          <a:endParaRPr lang="en-US" sz="12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</a:tr>
                  <a:tr h="29319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>
                              <a:effectLst/>
                            </a:rPr>
                            <a:t>2018 (from April)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0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200">
                                    <a:effectLst/>
                                    <a:latin typeface="Cambria Math" panose="02040503050406030204" pitchFamily="18" charset="0"/>
                                  </a:rPr>
                                  <m:t>3.543</m:t>
                                </m:r>
                                <m:r>
                                  <a:rPr lang="en-GB" sz="1200">
                                    <a:effectLst/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sSup>
                                  <m:sSupPr>
                                    <m:ctrlPr>
                                      <a:rPr lang="en-US" sz="12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GB" sz="12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lang="en-GB" sz="12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>
                              <a:effectLst/>
                            </a:rPr>
                            <a:t>1.181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</a:tr>
                  <a:tr h="29319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>
                              <a:effectLst/>
                            </a:rPr>
                            <a:t>2019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0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200">
                                    <a:effectLst/>
                                    <a:latin typeface="Cambria Math" panose="02040503050406030204" pitchFamily="18" charset="0"/>
                                  </a:rPr>
                                  <m:t>4.580</m:t>
                                </m:r>
                                <m:r>
                                  <a:rPr lang="en-GB" sz="1200">
                                    <a:effectLst/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sSup>
                                  <m:sSupPr>
                                    <m:ctrlPr>
                                      <a:rPr lang="en-US" sz="12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GB" sz="12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lang="en-GB" sz="12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 dirty="0">
                              <a:effectLst/>
                            </a:rPr>
                            <a:t>1.527</a:t>
                          </a:r>
                          <a:endParaRPr lang="en-US" sz="12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</a:tr>
                  <a:tr h="29319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>
                              <a:effectLst/>
                            </a:rPr>
                            <a:t>2020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0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200">
                                    <a:effectLst/>
                                    <a:latin typeface="Cambria Math" panose="02040503050406030204" pitchFamily="18" charset="0"/>
                                  </a:rPr>
                                  <m:t>8.826</m:t>
                                </m:r>
                                <m:r>
                                  <a:rPr lang="en-GB" sz="1200">
                                    <a:effectLst/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sSup>
                                  <m:sSupPr>
                                    <m:ctrlPr>
                                      <a:rPr lang="en-US" sz="12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GB" sz="12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lang="en-GB" sz="12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>
                              <a:effectLst/>
                            </a:rPr>
                            <a:t>2.942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</a:tr>
                  <a:tr h="29319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>
                              <a:effectLst/>
                            </a:rPr>
                            <a:t>2021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0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200">
                                    <a:effectLst/>
                                    <a:latin typeface="Cambria Math" panose="02040503050406030204" pitchFamily="18" charset="0"/>
                                  </a:rPr>
                                  <m:t>5.548</m:t>
                                </m:r>
                                <m:r>
                                  <a:rPr lang="en-GB" sz="1200">
                                    <a:effectLst/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sSup>
                                  <m:sSupPr>
                                    <m:ctrlPr>
                                      <a:rPr lang="en-US" sz="12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GB" sz="12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lang="en-GB" sz="12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 dirty="0">
                              <a:effectLst/>
                            </a:rPr>
                            <a:t>1.849</a:t>
                          </a:r>
                          <a:endParaRPr lang="en-US" sz="12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</a:tr>
                  <a:tr h="29319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>
                              <a:effectLst/>
                            </a:rPr>
                            <a:t>2022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0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200">
                                    <a:effectLst/>
                                    <a:latin typeface="Cambria Math" panose="02040503050406030204" pitchFamily="18" charset="0"/>
                                  </a:rPr>
                                  <m:t>9.238</m:t>
                                </m:r>
                                <m:r>
                                  <a:rPr lang="en-GB" sz="1200">
                                    <a:effectLst/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sSup>
                                  <m:sSupPr>
                                    <m:ctrlPr>
                                      <a:rPr lang="en-US" sz="12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GB" sz="12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lang="en-GB" sz="12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12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>
                              <a:effectLst/>
                            </a:rPr>
                            <a:t>3.079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</a:tr>
                  <a:tr h="297868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>
                              <a:effectLst/>
                            </a:rPr>
                            <a:t>2023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0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200">
                                    <a:effectLst/>
                                    <a:latin typeface="Cambria Math" panose="02040503050406030204" pitchFamily="18" charset="0"/>
                                  </a:rPr>
                                  <m:t>1.032</m:t>
                                </m:r>
                                <m:r>
                                  <a:rPr lang="en-GB" sz="1200">
                                    <a:effectLst/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sSup>
                                  <m:sSupPr>
                                    <m:ctrlPr>
                                      <a:rPr lang="en-US" sz="12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GB" sz="12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lang="en-GB" sz="12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>
                              <a:effectLst/>
                            </a:rPr>
                            <a:t>3.439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</a:tr>
                  <a:tr h="297868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>
                              <a:effectLst/>
                            </a:rPr>
                            <a:t>2024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0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200">
                                    <a:effectLst/>
                                    <a:latin typeface="Cambria Math" panose="02040503050406030204" pitchFamily="18" charset="0"/>
                                  </a:rPr>
                                  <m:t>2.001</m:t>
                                </m:r>
                                <m:r>
                                  <a:rPr lang="en-GB" sz="1200">
                                    <a:effectLst/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sSup>
                                  <m:sSupPr>
                                    <m:ctrlPr>
                                      <a:rPr lang="en-US" sz="12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GB" sz="12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lang="en-GB" sz="12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>
                              <a:effectLst/>
                            </a:rPr>
                            <a:t>6.668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</a:tr>
                  <a:tr h="297868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>
                              <a:effectLst/>
                            </a:rPr>
                            <a:t>2025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0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200">
                                    <a:effectLst/>
                                    <a:latin typeface="Cambria Math" panose="02040503050406030204" pitchFamily="18" charset="0"/>
                                  </a:rPr>
                                  <m:t>2.442</m:t>
                                </m:r>
                                <m:r>
                                  <a:rPr lang="en-GB" sz="1200">
                                    <a:effectLst/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sSup>
                                  <m:sSupPr>
                                    <m:ctrlPr>
                                      <a:rPr lang="en-US" sz="12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GB" sz="12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lang="en-GB" sz="12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>
                              <a:effectLst/>
                            </a:rPr>
                            <a:t>8.141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</a:tr>
                  <a:tr h="29319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>
                              <a:effectLst/>
                            </a:rPr>
                            <a:t>2026 (to April)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0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200">
                                    <a:effectLst/>
                                    <a:latin typeface="Cambria Math" panose="02040503050406030204" pitchFamily="18" charset="0"/>
                                  </a:rPr>
                                  <m:t>7.485</m:t>
                                </m:r>
                                <m:r>
                                  <a:rPr lang="en-GB" sz="1200">
                                    <a:effectLst/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sSup>
                                  <m:sSupPr>
                                    <m:ctrlPr>
                                      <a:rPr lang="en-US" sz="12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GB" sz="12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lang="en-GB" sz="12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>
                              <a:effectLst/>
                            </a:rPr>
                            <a:t>2.495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</a:tr>
                  <a:tr h="297868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>
                              <a:effectLst/>
                            </a:rPr>
                            <a:t>Total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0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200">
                                    <a:effectLst/>
                                    <a:latin typeface="Cambria Math" panose="02040503050406030204" pitchFamily="18" charset="0"/>
                                  </a:rPr>
                                  <m:t>9.396</m:t>
                                </m:r>
                                <m:r>
                                  <a:rPr lang="en-GB" sz="1200">
                                    <a:effectLst/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sSup>
                                  <m:sSupPr>
                                    <m:ctrlPr>
                                      <a:rPr lang="en-US" sz="12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GB" sz="12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lang="en-GB" sz="12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 dirty="0">
                              <a:effectLst/>
                            </a:rPr>
                            <a:t>31.319</a:t>
                          </a:r>
                          <a:endParaRPr lang="en-US" sz="12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6992945"/>
                  </p:ext>
                </p:extLst>
              </p:nvPr>
            </p:nvGraphicFramePr>
            <p:xfrm>
              <a:off x="218123" y="2873829"/>
              <a:ext cx="4745764" cy="3452495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605497"/>
                    <a:gridCol w="1469230"/>
                    <a:gridCol w="1671037"/>
                  </a:tblGrid>
                  <a:tr h="501853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 spc="25" dirty="0">
                              <a:effectLst/>
                            </a:rPr>
                            <a:t>Year</a:t>
                          </a:r>
                          <a:endParaRPr lang="en-US" sz="12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 spc="25">
                              <a:effectLst/>
                            </a:rPr>
                            <a:t>Hydrogen in Tonnes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 spc="25" dirty="0">
                              <a:effectLst/>
                            </a:rPr>
                            <a:t>Net Chemical Energy (TWh)</a:t>
                          </a:r>
                          <a:endParaRPr lang="en-US" sz="12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</a:tr>
                  <a:tr h="29319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>
                              <a:effectLst/>
                            </a:rPr>
                            <a:t>2018 (from April)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 rotWithShape="0">
                          <a:blip r:embed="rId3"/>
                          <a:stretch>
                            <a:fillRect l="-109959" t="-169388" r="-115768" b="-90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>
                              <a:effectLst/>
                            </a:rPr>
                            <a:t>1.181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</a:tr>
                  <a:tr h="29319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>
                              <a:effectLst/>
                            </a:rPr>
                            <a:t>2019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 rotWithShape="0">
                          <a:blip r:embed="rId3"/>
                          <a:stretch>
                            <a:fillRect l="-109959" t="-275000" r="-115768" b="-82291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 dirty="0">
                              <a:effectLst/>
                            </a:rPr>
                            <a:t>1.527</a:t>
                          </a:r>
                          <a:endParaRPr lang="en-US" sz="12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</a:tr>
                  <a:tr h="29319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>
                              <a:effectLst/>
                            </a:rPr>
                            <a:t>2020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 rotWithShape="0">
                          <a:blip r:embed="rId3"/>
                          <a:stretch>
                            <a:fillRect l="-109959" t="-375000" r="-115768" b="-72291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>
                              <a:effectLst/>
                            </a:rPr>
                            <a:t>2.942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</a:tr>
                  <a:tr h="29319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>
                              <a:effectLst/>
                            </a:rPr>
                            <a:t>2021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 rotWithShape="0">
                          <a:blip r:embed="rId3"/>
                          <a:stretch>
                            <a:fillRect l="-109959" t="-475000" r="-115768" b="-62291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 dirty="0">
                              <a:effectLst/>
                            </a:rPr>
                            <a:t>1.849</a:t>
                          </a:r>
                          <a:endParaRPr lang="en-US" sz="12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</a:tr>
                  <a:tr h="29319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>
                              <a:effectLst/>
                            </a:rPr>
                            <a:t>2022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 rotWithShape="0">
                          <a:blip r:embed="rId3"/>
                          <a:stretch>
                            <a:fillRect l="-109959" t="-575000" r="-115768" b="-52291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>
                              <a:effectLst/>
                            </a:rPr>
                            <a:t>3.079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</a:tr>
                  <a:tr h="297868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>
                              <a:effectLst/>
                            </a:rPr>
                            <a:t>2023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 rotWithShape="0">
                          <a:blip r:embed="rId3"/>
                          <a:stretch>
                            <a:fillRect l="-109959" t="-661224" r="-115768" b="-4122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>
                              <a:effectLst/>
                            </a:rPr>
                            <a:t>3.439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</a:tr>
                  <a:tr h="297868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>
                              <a:effectLst/>
                            </a:rPr>
                            <a:t>2024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 rotWithShape="0">
                          <a:blip r:embed="rId3"/>
                          <a:stretch>
                            <a:fillRect l="-109959" t="-761224" r="-115768" b="-3122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>
                              <a:effectLst/>
                            </a:rPr>
                            <a:t>6.668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</a:tr>
                  <a:tr h="297868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>
                              <a:effectLst/>
                            </a:rPr>
                            <a:t>2025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 rotWithShape="0">
                          <a:blip r:embed="rId3"/>
                          <a:stretch>
                            <a:fillRect l="-109959" t="-861224" r="-115768" b="-2122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>
                              <a:effectLst/>
                            </a:rPr>
                            <a:t>8.141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</a:tr>
                  <a:tr h="29319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>
                              <a:effectLst/>
                            </a:rPr>
                            <a:t>2026 (to April)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 rotWithShape="0">
                          <a:blip r:embed="rId3"/>
                          <a:stretch>
                            <a:fillRect l="-109959" t="-981250" r="-115768" b="-11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>
                              <a:effectLst/>
                            </a:rPr>
                            <a:t>2.495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</a:tr>
                  <a:tr h="297868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>
                              <a:effectLst/>
                            </a:rPr>
                            <a:t>Total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 rotWithShape="0">
                          <a:blip r:embed="rId3"/>
                          <a:stretch>
                            <a:fillRect l="-109959" t="-1059184" r="-115768" b="-142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 dirty="0">
                              <a:effectLst/>
                            </a:rPr>
                            <a:t>31.319</a:t>
                          </a:r>
                          <a:endParaRPr lang="en-US" sz="12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0804643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10" r="8833"/>
          <a:stretch/>
        </p:blipFill>
        <p:spPr bwMode="auto">
          <a:xfrm>
            <a:off x="173173" y="3155883"/>
            <a:ext cx="5661569" cy="3380876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Results – Modelling and Simulation</a:t>
            </a:r>
            <a:endParaRPr lang="en-GB" dirty="0"/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 smtClean="0"/>
              <a:t>Realistic modelling (capacity)</a:t>
            </a:r>
          </a:p>
          <a:p>
            <a:r>
              <a:rPr lang="tr-TR" dirty="0" smtClean="0"/>
              <a:t>All electrolyser groups consist of 40 electrolysers</a:t>
            </a:r>
          </a:p>
        </p:txBody>
      </p:sp>
      <p:pic>
        <p:nvPicPr>
          <p:cNvPr id="9" name="Picture 8"/>
          <p:cNvPicPr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79" r="8205"/>
          <a:stretch/>
        </p:blipFill>
        <p:spPr bwMode="auto">
          <a:xfrm>
            <a:off x="5982789" y="3070180"/>
            <a:ext cx="5852160" cy="3356746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2173868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Results – Modelling and Simulation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90494"/>
            <a:ext cx="10515600" cy="4351338"/>
          </a:xfrm>
        </p:spPr>
        <p:txBody>
          <a:bodyPr/>
          <a:lstStyle/>
          <a:p>
            <a:r>
              <a:rPr lang="tr-TR" dirty="0" smtClean="0"/>
              <a:t>Location based analysis of hydrogen production and electrolyser efficiency.</a:t>
            </a:r>
          </a:p>
          <a:p>
            <a:r>
              <a:rPr lang="tr-TR" dirty="0" smtClean="0"/>
              <a:t>Electrolyser efficiency trials (600x5MW - 120x25MW – 40x75MW) (3GW)</a:t>
            </a:r>
            <a:endParaRPr lang="en-GB" dirty="0" smtClean="0"/>
          </a:p>
          <a:p>
            <a:endParaRPr lang="en-GB" dirty="0"/>
          </a:p>
        </p:txBody>
      </p:sp>
      <p:pic>
        <p:nvPicPr>
          <p:cNvPr id="4" name="Picture 3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1887" y="2911294"/>
            <a:ext cx="4684349" cy="3349534"/>
          </a:xfrm>
          <a:prstGeom prst="rect">
            <a:avLst/>
          </a:prstGeom>
        </p:spPr>
      </p:pic>
      <p:pic>
        <p:nvPicPr>
          <p:cNvPr id="5" name="Picture 4"/>
          <p:cNvPicPr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23" r="7051"/>
          <a:stretch/>
        </p:blipFill>
        <p:spPr bwMode="auto">
          <a:xfrm>
            <a:off x="5416731" y="3056708"/>
            <a:ext cx="5741602" cy="3255191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7823311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41401414"/>
                  </p:ext>
                </p:extLst>
              </p:nvPr>
            </p:nvGraphicFramePr>
            <p:xfrm>
              <a:off x="1558835" y="4081462"/>
              <a:ext cx="7881618" cy="2641076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969983"/>
                    <a:gridCol w="1969983"/>
                    <a:gridCol w="1970826"/>
                    <a:gridCol w="1970826"/>
                  </a:tblGrid>
                  <a:tr h="487583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 spc="25" dirty="0">
                              <a:effectLst/>
                            </a:rPr>
                            <a:t>Location</a:t>
                          </a:r>
                          <a:endParaRPr lang="en-US" sz="12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 spc="25" dirty="0">
                              <a:effectLst/>
                            </a:rPr>
                            <a:t>Electrolyser System</a:t>
                          </a:r>
                          <a:endParaRPr lang="en-US" sz="12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 spc="25">
                              <a:effectLst/>
                            </a:rPr>
                            <a:t>Total Produced Hydrogen in Tonnes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 spc="25" dirty="0">
                              <a:effectLst/>
                            </a:rPr>
                            <a:t>Average Efficiency</a:t>
                          </a:r>
                          <a:endParaRPr lang="en-US" sz="12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</a:tr>
                  <a:tr h="157228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>
                              <a:effectLst/>
                            </a:rPr>
                            <a:t>Tealing Substation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>
                              <a:effectLst/>
                            </a:rPr>
                            <a:t>15 x 5 MW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0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200">
                                    <a:effectLst/>
                                    <a:latin typeface="Cambria Math" panose="02040503050406030204" pitchFamily="18" charset="0"/>
                                  </a:rPr>
                                  <m:t>1.868×</m:t>
                                </m:r>
                                <m:sSup>
                                  <m:sSupPr>
                                    <m:ctrlPr>
                                      <a:rPr lang="en-US" sz="12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GB" sz="12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lang="en-GB" sz="12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>
                              <a:effectLst/>
                            </a:rPr>
                            <a:t>78.19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</a:tr>
                  <a:tr h="157228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>
                              <a:effectLst/>
                            </a:rPr>
                            <a:t>Tealing Substation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>
                              <a:effectLst/>
                            </a:rPr>
                            <a:t>3 x 25 MW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0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200">
                                    <a:effectLst/>
                                    <a:latin typeface="Cambria Math" panose="02040503050406030204" pitchFamily="18" charset="0"/>
                                  </a:rPr>
                                  <m:t>1.873×</m:t>
                                </m:r>
                                <m:sSup>
                                  <m:sSupPr>
                                    <m:ctrlPr>
                                      <a:rPr lang="en-US" sz="12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GB" sz="12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lang="en-GB" sz="12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>
                              <a:effectLst/>
                            </a:rPr>
                            <a:t>77.25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</a:tr>
                  <a:tr h="157228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>
                              <a:effectLst/>
                            </a:rPr>
                            <a:t>Tealing Substation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>
                              <a:effectLst/>
                            </a:rPr>
                            <a:t>1 x 75 MW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0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200">
                                    <a:effectLst/>
                                    <a:latin typeface="Cambria Math" panose="02040503050406030204" pitchFamily="18" charset="0"/>
                                  </a:rPr>
                                  <m:t>1.815×</m:t>
                                </m:r>
                                <m:sSup>
                                  <m:sSupPr>
                                    <m:ctrlPr>
                                      <a:rPr lang="en-US" sz="12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GB" sz="12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lang="en-GB" sz="12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>
                              <a:effectLst/>
                            </a:rPr>
                            <a:t>75.12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</a:tr>
                  <a:tr h="161762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>
                              <a:effectLst/>
                            </a:rPr>
                            <a:t>St Fergus Hub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>
                              <a:effectLst/>
                            </a:rPr>
                            <a:t>15 x 5 MW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0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200">
                                    <a:effectLst/>
                                    <a:latin typeface="Cambria Math" panose="02040503050406030204" pitchFamily="18" charset="0"/>
                                  </a:rPr>
                                  <m:t>1.809×</m:t>
                                </m:r>
                                <m:sSup>
                                  <m:sSupPr>
                                    <m:ctrlPr>
                                      <a:rPr lang="en-US" sz="12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GB" sz="12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lang="en-GB" sz="12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>
                              <a:effectLst/>
                            </a:rPr>
                            <a:t>76.72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</a:tr>
                  <a:tr h="157228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>
                              <a:effectLst/>
                            </a:rPr>
                            <a:t>St Fergus Hub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>
                              <a:effectLst/>
                            </a:rPr>
                            <a:t>3 x 25 MW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0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200">
                                    <a:effectLst/>
                                    <a:latin typeface="Cambria Math" panose="02040503050406030204" pitchFamily="18" charset="0"/>
                                  </a:rPr>
                                  <m:t>1.799×</m:t>
                                </m:r>
                                <m:sSup>
                                  <m:sSupPr>
                                    <m:ctrlPr>
                                      <a:rPr lang="en-US" sz="12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GB" sz="12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lang="en-GB" sz="12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>
                              <a:effectLst/>
                            </a:rPr>
                            <a:t>75.25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</a:tr>
                  <a:tr h="157228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>
                              <a:effectLst/>
                            </a:rPr>
                            <a:t>St Fergus Hub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>
                              <a:effectLst/>
                            </a:rPr>
                            <a:t>1 x 75 MW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0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200">
                                    <a:effectLst/>
                                    <a:latin typeface="Cambria Math" panose="02040503050406030204" pitchFamily="18" charset="0"/>
                                  </a:rPr>
                                  <m:t>1.751×</m:t>
                                </m:r>
                                <m:sSup>
                                  <m:sSupPr>
                                    <m:ctrlPr>
                                      <a:rPr lang="en-US" sz="12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GB" sz="12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lang="en-GB" sz="12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>
                              <a:effectLst/>
                            </a:rPr>
                            <a:t>73.94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</a:tr>
                  <a:tr h="310923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>
                              <a:effectLst/>
                            </a:rPr>
                            <a:t>Hunterston Station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>
                              <a:effectLst/>
                            </a:rPr>
                            <a:t>15 x 5 MW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0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200">
                                    <a:effectLst/>
                                    <a:latin typeface="Cambria Math" panose="02040503050406030204" pitchFamily="18" charset="0"/>
                                  </a:rPr>
                                  <m:t>3.464×</m:t>
                                </m:r>
                                <m:sSup>
                                  <m:sSupPr>
                                    <m:ctrlPr>
                                      <a:rPr lang="en-US" sz="12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GB" sz="12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lang="en-GB" sz="12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>
                              <a:effectLst/>
                            </a:rPr>
                            <a:t>75.28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</a:tr>
                  <a:tr h="310923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>
                              <a:effectLst/>
                            </a:rPr>
                            <a:t>Hunterston Station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>
                              <a:effectLst/>
                            </a:rPr>
                            <a:t>3 x 25 MW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0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200">
                                    <a:effectLst/>
                                    <a:latin typeface="Cambria Math" panose="02040503050406030204" pitchFamily="18" charset="0"/>
                                  </a:rPr>
                                  <m:t>3.350×</m:t>
                                </m:r>
                                <m:sSup>
                                  <m:sSupPr>
                                    <m:ctrlPr>
                                      <a:rPr lang="en-US" sz="12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GB" sz="12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lang="en-GB" sz="12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>
                              <a:effectLst/>
                            </a:rPr>
                            <a:t>73.57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</a:tr>
                  <a:tr h="310923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>
                              <a:effectLst/>
                            </a:rPr>
                            <a:t>Hunterston Station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>
                              <a:effectLst/>
                            </a:rPr>
                            <a:t>1 x 75 MW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0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200">
                                    <a:effectLst/>
                                    <a:latin typeface="Cambria Math" panose="02040503050406030204" pitchFamily="18" charset="0"/>
                                  </a:rPr>
                                  <m:t>3.271×</m:t>
                                </m:r>
                                <m:sSup>
                                  <m:sSupPr>
                                    <m:ctrlPr>
                                      <a:rPr lang="en-US" sz="12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GB" sz="12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lang="en-GB" sz="12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 dirty="0">
                              <a:effectLst/>
                            </a:rPr>
                            <a:t>72.99</a:t>
                          </a:r>
                          <a:endParaRPr lang="en-US" sz="12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41401414"/>
                  </p:ext>
                </p:extLst>
              </p:nvPr>
            </p:nvGraphicFramePr>
            <p:xfrm>
              <a:off x="1558835" y="4081462"/>
              <a:ext cx="7881618" cy="2641076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969983"/>
                    <a:gridCol w="1969983"/>
                    <a:gridCol w="1970826"/>
                    <a:gridCol w="1970826"/>
                  </a:tblGrid>
                  <a:tr h="487583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 spc="25" dirty="0">
                              <a:effectLst/>
                            </a:rPr>
                            <a:t>Location</a:t>
                          </a:r>
                          <a:endParaRPr lang="en-US" sz="12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 spc="25" dirty="0">
                              <a:effectLst/>
                            </a:rPr>
                            <a:t>Electrolyser System</a:t>
                          </a:r>
                          <a:endParaRPr lang="en-US" sz="12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 spc="25">
                              <a:effectLst/>
                            </a:rPr>
                            <a:t>Total Produced Hydrogen in Tonnes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 spc="25" dirty="0">
                              <a:effectLst/>
                            </a:rPr>
                            <a:t>Average Efficiency</a:t>
                          </a:r>
                          <a:endParaRPr lang="en-US" sz="12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</a:tr>
                  <a:tr h="203454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>
                              <a:effectLst/>
                            </a:rPr>
                            <a:t>Tealing Substation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>
                              <a:effectLst/>
                            </a:rPr>
                            <a:t>15 x 5 MW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 rotWithShape="0">
                          <a:blip r:embed="rId2"/>
                          <a:stretch>
                            <a:fillRect l="-200619" t="-238235" r="-101548" b="-952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>
                              <a:effectLst/>
                            </a:rPr>
                            <a:t>78.19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</a:tr>
                  <a:tr h="203454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>
                              <a:effectLst/>
                            </a:rPr>
                            <a:t>Tealing Substation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>
                              <a:effectLst/>
                            </a:rPr>
                            <a:t>3 x 25 MW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 rotWithShape="0">
                          <a:blip r:embed="rId2"/>
                          <a:stretch>
                            <a:fillRect l="-200619" t="-348485" r="-101548" b="-8818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>
                              <a:effectLst/>
                            </a:rPr>
                            <a:t>77.25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</a:tr>
                  <a:tr h="203454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>
                              <a:effectLst/>
                            </a:rPr>
                            <a:t>Tealing Substation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>
                              <a:effectLst/>
                            </a:rPr>
                            <a:t>1 x 75 MW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 rotWithShape="0">
                          <a:blip r:embed="rId2"/>
                          <a:stretch>
                            <a:fillRect l="-200619" t="-448485" r="-101548" b="-7818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>
                              <a:effectLst/>
                            </a:rPr>
                            <a:t>75.12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</a:tr>
                  <a:tr h="203454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>
                              <a:effectLst/>
                            </a:rPr>
                            <a:t>St Fergus Hub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>
                              <a:effectLst/>
                            </a:rPr>
                            <a:t>15 x 5 MW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 rotWithShape="0">
                          <a:blip r:embed="rId2"/>
                          <a:stretch>
                            <a:fillRect l="-200619" t="-532353" r="-101548" b="-6588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>
                              <a:effectLst/>
                            </a:rPr>
                            <a:t>76.72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</a:tr>
                  <a:tr h="203454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>
                              <a:effectLst/>
                            </a:rPr>
                            <a:t>St Fergus Hub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>
                              <a:effectLst/>
                            </a:rPr>
                            <a:t>3 x 25 MW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 rotWithShape="0">
                          <a:blip r:embed="rId2"/>
                          <a:stretch>
                            <a:fillRect l="-200619" t="-651515" r="-101548" b="-57878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>
                              <a:effectLst/>
                            </a:rPr>
                            <a:t>75.25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</a:tr>
                  <a:tr h="203454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>
                              <a:effectLst/>
                            </a:rPr>
                            <a:t>St Fergus Hub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>
                              <a:effectLst/>
                            </a:rPr>
                            <a:t>1 x 75 MW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 rotWithShape="0">
                          <a:blip r:embed="rId2"/>
                          <a:stretch>
                            <a:fillRect l="-200619" t="-729412" r="-101548" b="-4617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>
                              <a:effectLst/>
                            </a:rPr>
                            <a:t>73.94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</a:tr>
                  <a:tr h="310923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>
                              <a:effectLst/>
                            </a:rPr>
                            <a:t>Hunterston Station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>
                              <a:effectLst/>
                            </a:rPr>
                            <a:t>15 x 5 MW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 rotWithShape="0">
                          <a:blip r:embed="rId2"/>
                          <a:stretch>
                            <a:fillRect l="-200619" t="-552941" r="-101548" b="-2078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>
                              <a:effectLst/>
                            </a:rPr>
                            <a:t>75.28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</a:tr>
                  <a:tr h="310923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>
                              <a:effectLst/>
                            </a:rPr>
                            <a:t>Hunterston Station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>
                              <a:effectLst/>
                            </a:rPr>
                            <a:t>3 x 25 MW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 rotWithShape="0">
                          <a:blip r:embed="rId2"/>
                          <a:stretch>
                            <a:fillRect l="-200619" t="-652941" r="-101548" b="-1078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>
                              <a:effectLst/>
                            </a:rPr>
                            <a:t>73.57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</a:tr>
                  <a:tr h="310923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>
                              <a:effectLst/>
                            </a:rPr>
                            <a:t>Hunterston Station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>
                              <a:effectLst/>
                            </a:rPr>
                            <a:t>1 x 75 MW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 rotWithShape="0">
                          <a:blip r:embed="rId2"/>
                          <a:stretch>
                            <a:fillRect l="-200619" t="-752941" r="-101548" b="-78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 dirty="0">
                              <a:effectLst/>
                            </a:rPr>
                            <a:t>72.99</a:t>
                          </a:r>
                          <a:endParaRPr lang="en-US" sz="12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</a:tr>
                </a:tbl>
              </a:graphicData>
            </a:graphic>
          </p:graphicFrame>
        </mc:Fallback>
      </mc:AlternateContent>
      <p:pic>
        <p:nvPicPr>
          <p:cNvPr id="6" name="Picture 5"/>
          <p:cNvPicPr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08" r="7821"/>
          <a:stretch/>
        </p:blipFill>
        <p:spPr bwMode="auto">
          <a:xfrm>
            <a:off x="75675" y="392289"/>
            <a:ext cx="5943600" cy="353441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7" name="Picture 6"/>
          <p:cNvPicPr/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49" r="8333"/>
          <a:stretch/>
        </p:blipFill>
        <p:spPr bwMode="auto">
          <a:xfrm>
            <a:off x="6140610" y="392289"/>
            <a:ext cx="5935980" cy="347472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7508371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Discussion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 smtClean="0"/>
              <a:t>Results suggest curtailment </a:t>
            </a:r>
            <a:r>
              <a:rPr lang="en-GB" dirty="0" smtClean="0"/>
              <a:t>continuously</a:t>
            </a:r>
            <a:r>
              <a:rPr lang="tr-TR" dirty="0" smtClean="0"/>
              <a:t> increasing</a:t>
            </a:r>
          </a:p>
          <a:p>
            <a:r>
              <a:rPr lang="tr-TR" dirty="0" smtClean="0"/>
              <a:t>Scotland to England bottleneck (97% curtailment)</a:t>
            </a:r>
          </a:p>
          <a:p>
            <a:r>
              <a:rPr lang="tr-TR" dirty="0" smtClean="0"/>
              <a:t>Around 42% of the theoretical maximum production is realistic on a large scale operation. (400 </a:t>
            </a:r>
            <a:r>
              <a:rPr lang="en-GB" dirty="0" smtClean="0"/>
              <a:t>thousand</a:t>
            </a:r>
            <a:r>
              <a:rPr lang="tr-TR" dirty="0" smtClean="0"/>
              <a:t> tonnes)</a:t>
            </a:r>
          </a:p>
          <a:p>
            <a:r>
              <a:rPr lang="tr-TR" dirty="0" smtClean="0"/>
              <a:t>4-5 years curtailment for 1 year hydrogen supply</a:t>
            </a:r>
          </a:p>
          <a:p>
            <a:r>
              <a:rPr lang="tr-TR" dirty="0" smtClean="0"/>
              <a:t>2.5 years for 48% of realistic production</a:t>
            </a:r>
          </a:p>
          <a:p>
            <a:r>
              <a:rPr lang="tr-TR" dirty="0" smtClean="0"/>
              <a:t>Operation efficiency around 78-79% with correct systems</a:t>
            </a:r>
          </a:p>
          <a:p>
            <a:pPr marL="0" indent="0">
              <a:buNone/>
            </a:pPr>
            <a:endParaRPr lang="tr-TR" dirty="0" smtClean="0"/>
          </a:p>
          <a:p>
            <a:endParaRPr lang="tr-TR" dirty="0" smtClean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557764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Conclusion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 smtClean="0"/>
              <a:t>Stopping curtailments altogether isn’t realistic</a:t>
            </a:r>
          </a:p>
          <a:p>
            <a:r>
              <a:rPr lang="tr-TR" dirty="0" smtClean="0"/>
              <a:t>Hydrogen </a:t>
            </a:r>
            <a:r>
              <a:rPr lang="tr-TR" dirty="0"/>
              <a:t>production is limited to curtailment sites </a:t>
            </a:r>
            <a:r>
              <a:rPr lang="tr-TR" dirty="0" smtClean="0"/>
              <a:t>due to grid restrictions</a:t>
            </a:r>
          </a:p>
          <a:p>
            <a:r>
              <a:rPr lang="tr-TR" dirty="0" smtClean="0"/>
              <a:t>Site based analysis and electrolyser system selection is important</a:t>
            </a:r>
          </a:p>
          <a:p>
            <a:r>
              <a:rPr lang="tr-TR" dirty="0"/>
              <a:t>Should be acted upon to catch up with existing curtailment levels</a:t>
            </a:r>
          </a:p>
          <a:p>
            <a:r>
              <a:rPr lang="tr-TR" dirty="0"/>
              <a:t>Invaluable in a future dependent on renewable </a:t>
            </a:r>
            <a:r>
              <a:rPr lang="tr-TR" dirty="0" smtClean="0"/>
              <a:t>energy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627000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Limitations of the Study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 smtClean="0"/>
              <a:t>Realistic production model assumes around 70% load as the most efficient</a:t>
            </a:r>
          </a:p>
          <a:p>
            <a:r>
              <a:rPr lang="tr-TR" dirty="0" smtClean="0"/>
              <a:t>The trial capacities were selected based on the available total curtailed energy (Hunterston Hub)</a:t>
            </a:r>
          </a:p>
          <a:p>
            <a:r>
              <a:rPr lang="tr-TR" dirty="0" smtClean="0"/>
              <a:t>Equal distribution of load between electrolysers in the simulation</a:t>
            </a:r>
          </a:p>
          <a:p>
            <a:r>
              <a:rPr lang="tr-TR" dirty="0" smtClean="0"/>
              <a:t>Isn’t able to predict the impact of future investments into wind generation</a:t>
            </a:r>
          </a:p>
          <a:p>
            <a:endParaRPr lang="tr-TR" dirty="0" smtClean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578623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598</TotalTime>
  <Words>669</Words>
  <Application>Microsoft Office PowerPoint</Application>
  <PresentationFormat>Widescreen</PresentationFormat>
  <Paragraphs>182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Arial</vt:lpstr>
      <vt:lpstr>Calibri</vt:lpstr>
      <vt:lpstr>Cambria Math</vt:lpstr>
      <vt:lpstr>Times New Roman</vt:lpstr>
      <vt:lpstr>Trebuchet MS</vt:lpstr>
      <vt:lpstr>Wingdings 3</vt:lpstr>
      <vt:lpstr>Facet</vt:lpstr>
      <vt:lpstr>Evaluation of Green Hydrogen  as a Long Duration Storage  Solution for Future Energy and  Climate Scenarios in the UK</vt:lpstr>
      <vt:lpstr>Aim and Objectives</vt:lpstr>
      <vt:lpstr>Significance of the Topic</vt:lpstr>
      <vt:lpstr>Literature Review</vt:lpstr>
      <vt:lpstr>Methodology</vt:lpstr>
      <vt:lpstr>Results – Data Analysis</vt:lpstr>
      <vt:lpstr>Results – Data Analysis</vt:lpstr>
      <vt:lpstr>Results – Data Analysis</vt:lpstr>
      <vt:lpstr>Results – Data Analysis</vt:lpstr>
      <vt:lpstr>Results – Modelling and Simulation</vt:lpstr>
      <vt:lpstr>Results – Modelling and Simulation</vt:lpstr>
      <vt:lpstr>Results – Modelling and Simulation</vt:lpstr>
      <vt:lpstr>Results – Modelling and Simulation</vt:lpstr>
      <vt:lpstr>PowerPoint Presentation</vt:lpstr>
      <vt:lpstr>Discussion</vt:lpstr>
      <vt:lpstr>Conclusion</vt:lpstr>
      <vt:lpstr>Limitations of the Study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FYP Presentation</dc:title>
  <dc:creator>Sarp Balaban</dc:creator>
  <cp:lastModifiedBy>Sarp Balaban</cp:lastModifiedBy>
  <cp:revision>28</cp:revision>
  <dcterms:created xsi:type="dcterms:W3CDTF">2026-05-11T12:00:26Z</dcterms:created>
  <dcterms:modified xsi:type="dcterms:W3CDTF">2026-08-24T14:07:40Z</dcterms:modified>
</cp:coreProperties>
</file>